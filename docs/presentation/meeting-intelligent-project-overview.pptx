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PROJECT TECHNICAL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07008"/>
            <a:ext cx="105156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300" b="1">
                <a:solidFill>
                  <a:srgbClr val="F4F7FB"/>
                </a:solidFill>
                <a:latin typeface="Aptos"/>
              </a:defRPr>
            </a:pPr>
            <a:r>
              <a:t>Meeting Task</a:t>
            </a:r>
            <a:br/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7589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0">
                <a:solidFill>
                  <a:srgbClr val="AAB8CC"/>
                </a:solidFill>
                <a:latin typeface="Aptos"/>
              </a:defRPr>
            </a:pPr>
            <a:r>
              <a:t>Từ transcript tiếng Việt/Anh đến task ledger có evidence —</a:t>
            </a:r>
            <a:br/>
            <a:r>
              <a:t>Python-first, AI-last, tích hợp Power Automate.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960120"/>
            <a:ext cx="2514600" cy="3611880"/>
          </a:xfrm>
          <a:prstGeom prst="roundRect">
            <a:avLst/>
          </a:prstGeom>
          <a:solidFill>
            <a:srgbClr val="1F2E46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0848" y="1353312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>
                <a:solidFill>
                  <a:srgbClr val="5B97FF"/>
                </a:solidFill>
                <a:latin typeface="Aptos"/>
              </a:defRPr>
            </a:pPr>
            <a:r>
              <a:t>DEFAULT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5984" y="1874519"/>
            <a:ext cx="197510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3200" b="1">
                <a:solidFill>
                  <a:srgbClr val="F4F7FB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5984" y="2468880"/>
            <a:ext cx="1975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0">
                <a:solidFill>
                  <a:srgbClr val="AAB8CC"/>
                </a:solidFill>
                <a:latin typeface="Aptos"/>
              </a:defRPr>
            </a:pPr>
            <a:r>
              <a:t>Context: 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984" y="2907792"/>
            <a:ext cx="1975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0">
                <a:solidFill>
                  <a:srgbClr val="AAB8CC"/>
                </a:solidFill>
                <a:latin typeface="Aptos"/>
              </a:defRPr>
            </a:pPr>
            <a:r>
              <a:t>86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3346704"/>
            <a:ext cx="19751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0">
                <a:solidFill>
                  <a:srgbClr val="AAB8CC"/>
                </a:solidFill>
                <a:latin typeface="Aptos"/>
              </a:defRPr>
            </a:pPr>
            <a:r>
              <a:t>FastAPI + 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44768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AAB8CC"/>
                </a:solidFill>
                <a:latin typeface="Aptos"/>
              </a:defRPr>
            </a:pPr>
            <a:r>
              <a:t>Technical briefing • Architecture • Evaluation •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Tóm tắt điều hành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Hệ thống đang làm tốt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Contract và pipeline có ranh giới rõ: Python quyết định final state; AI chỉ sinh event trung gian.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Evidence, diagnostics và unresolved windows giúp audit thay vì che mơ hồ.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API đồng bộ, async job, Docker và Azure Functions dùng cùng FastAPI app.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Task Ledger đã tách identity, aliases, owner/deadline và terminal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Điều chưa được hiểu sai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Chất lượng canonical chưa đạt production; pass-case vẫn thấp.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Gate C xác nhận transport/provider/replay, không chứng minh toàn bộ extraction đã đúng.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Job store chỉ ở memory; quick tunnel chỉ dành cho demo/test.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Power Automate cần upsert, review queue và metadata ngày/title chuẩn.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98464"/>
            <a:ext cx="10698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>
                <a:solidFill>
                  <a:srgbClr val="F8CA5D"/>
                </a:solidFill>
                <a:latin typeface="Aptos"/>
              </a:defRPr>
            </a:pPr>
            <a:r>
              <a:t>Khuyến nghị: demo có kiểm soát + tiếp tục quality work; chưa tự động ghi task production không qua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Bài toán và ranh giới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Pipeline nhận transcript, suy ra task còn hiệu lực và giữ đủ dấu vết để người dùng kiểm tra.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PUBLIC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Từ đầu vào đến đầu ra công khai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TXT / VTT / SRT</a:t>
            </a:r>
            <a:br/>
            <a:r>
              <a:t>Meeting metadata +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Caption → turn → sentence → clause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Rule events + bounded AI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REDUCE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Global Task Ledger theo chronology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Summary + tasks + evidence + diagnostics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STABLE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Input và output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MeetingInput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meeting_id, meeting_title, meeting_date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transcript_raw, file_name, speaker_aliases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meeting_note là optional; source: SECRETARY / PARTICIPANT / MANUAL / AUTO_OVERVIEW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Ngày họp phải được gửi khi test date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PipelineResult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meeting_title và summary template-based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tasks: task_name, assignee, start/due date, raw due text, evidence, status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diagnostics: rule/AI/window/batch/fallback/replay counts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unresolved_window_ids là tín hiệu review bắt buộc.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Kiến trúc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V1 là production path; V2 vẫn là shadow/experimental và cung cấp một số helper dùng chung.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REPOSITORY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Bản đồ codebase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1645920" cy="53644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499616" cy="371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Khu vực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325880"/>
            <a:ext cx="3794760" cy="53644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417320"/>
            <a:ext cx="3648456" cy="371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Vai trò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1325880"/>
            <a:ext cx="4919472" cy="53644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4773168" cy="371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Điểm cần nhớ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862328"/>
            <a:ext cx="164592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35480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backend/app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8568" y="1862328"/>
            <a:ext cx="379476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1935480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FastAPI + toàn bộ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1862328"/>
            <a:ext cx="4919472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5480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main.py chọn provider; pipeline.py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398775"/>
            <a:ext cx="164592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71928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ingestion → annotation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58568" y="2398775"/>
            <a:ext cx="379476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471928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Parse, normalize, clause, cue/date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2398775"/>
            <a:ext cx="4919472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471928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Giữ order_index và stable 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2935224"/>
            <a:ext cx="164592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08376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candidate +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58568" y="2935224"/>
            <a:ext cx="379476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3008376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Window, routing, rule/AI extractors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935224"/>
            <a:ext cx="4919472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008376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AI chỉ xử lý candidate mơ hồ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471672"/>
            <a:ext cx="164592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544824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reduction + 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58568" y="3471672"/>
            <a:ext cx="379476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3544824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Link event, Task Ledger, resolve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3471672"/>
            <a:ext cx="4919472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544824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Reducer global chạy tuần tự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4008120"/>
            <a:ext cx="164592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81272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58568" y="4008120"/>
            <a:ext cx="379476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4081272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Task, evidence, summary, diagnostics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3328" y="4008120"/>
            <a:ext cx="4919472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4081272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Giữ public contract tương thích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4544568"/>
            <a:ext cx="164592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617720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data/validation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58568" y="4544568"/>
            <a:ext cx="379476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617720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86 case ground truth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53328" y="4544568"/>
            <a:ext cx="4919472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4617720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Source of truth sau code/tests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5081016"/>
            <a:ext cx="164592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154168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evaluation + scripts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58568" y="5081016"/>
            <a:ext cx="3794760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5154168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Report, trace, evaluator, runbook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3328" y="5081016"/>
            <a:ext cx="4919472" cy="53644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5154168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Report local ≠ live provider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" y="5617464"/>
            <a:ext cx="164592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690616"/>
            <a:ext cx="149961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power-automate + sp365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58568" y="5617464"/>
            <a:ext cx="3794760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31720" y="5690616"/>
            <a:ext cx="3648456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Flow, schema, Lists mapping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53328" y="5617464"/>
            <a:ext cx="4919472" cy="53644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5690616"/>
            <a:ext cx="4773168" cy="408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50" b="0">
                <a:solidFill>
                  <a:srgbClr val="F4F7FB"/>
                </a:solidFill>
                <a:latin typeface="Aptos"/>
              </a:defRPr>
            </a:pPr>
            <a:r>
              <a:t>Orchestration, không duplicate business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CHRONOLOGICAL AND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Pipeline V1 — chuỗi xử lý chính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Parser + caption dedup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Speaker/turn/sentence/clause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ANNOTATE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Cue flags + date mentions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Topic + note grounding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Window + route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167" y="372160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471" y="393192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471" y="437997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Rule + AI + recap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2275" y="425196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77159" y="372160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3463" y="393192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3463" y="437997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Filter + event dedup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4267" y="425196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99151" y="372160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5455" y="393192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LEDGER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5455" y="437997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Link + reduce + terminal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6259" y="425196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21143" y="372160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7447" y="393192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DATES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7447" y="437997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Deterministic resolver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8251" y="425196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3135" y="372160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9439" y="393192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SERIALIZE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9439" y="437997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Tasks + evidence + diagnostics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3072384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AAB8CC"/>
                </a:solidFill>
                <a:latin typeface="Aptos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AI-LAST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Candidate routing: RULE, AI hay CONTEXT?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Local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Assignment/commitment rõ, action cụ thể, score đủ cao.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Mutation chỉ local khi target ổn định, thường có task label.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Recap/snapshot có authority riêng khi đủ scope và cấu trúc.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Brainstorm, question, progress, hypothetical thường không create.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AI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Ambiguous reference, mutation thiếu target, note cue mơ hồ.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Chỉ nhận bounded clauses + task memory tối đa 5 candidates.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anchor_clause_id phải thuộc primary clauses.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Provider lỗi → giữ rule result + đánh dấu unresolved; meeting không fail.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SAFETY AND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Meeting Context và Meeting Note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Context compaction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Clause được xếp MANDATORY / LIKELY / CONTEXT / NOISE.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Classification chỉ chọn context gửi AI; không prune rule input.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Focus + safety clauses luôn giữ; budget 56 là soft limit.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Window xa nhau không gộp để tránh coreference xuyên đoạn.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F8CA5D"/>
                </a:solidFill>
                <a:latin typeface="Aptos"/>
              </a:defRPr>
            </a:pPr>
            <a:r>
              <a:t>Meeting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Human positive note có thể tạo event khi assertion + action + owner/task guard.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AUTO_OVERVIEW chỉ context/summary, không local create.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Note thiếu row không xóa task; transcript mutation vẫn có authority.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AI event luôn phải anchor về transcript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Task Ledger và final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Event không phải task cuối; reducer tích lũy mutation theo chronology rồi mới serialize active snapshot.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SEQUENTIAL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Event contract và reducer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TASK_CREATE / COMMITMENT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ASSIGN / REASSIGN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DEADLINE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SET / REPLACE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CANCEL / REJECT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Chỉ task ACTIVE được xuất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TASK LEDGER 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Task identity và reconciliation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Identity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Canonical task_id ổn định trong ledger.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Alias/label/reference được tích lũy, không dùng owner/date làm identity chính.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TaskLinker chấm candidate và có confidence/margin guard.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Ambiguous mutation không tự gắn bừa vào task gần nhất.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Mutation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Owner và deadline là state có thể ghi đè.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Terminal state chặn replay tạo lại cùng identity.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Recap có thể reconcile state nhưng phải qua authority/scope.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Final serializer chỉ đọc active ledger snapshot.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NO CALENDAR GUESSING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Start-date và deadline semantics deterministic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2514600" cy="482803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368296" cy="31821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Cụm thời gian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1325880"/>
            <a:ext cx="2423160" cy="482803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2276856" cy="31821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Kết quả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50408" y="1325880"/>
            <a:ext cx="5422392" cy="482803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417320"/>
            <a:ext cx="5276088" cy="31821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Nguyên tắc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808683"/>
            <a:ext cx="251460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81835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task bắt đầu từ 20/02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1808683"/>
            <a:ext cx="242316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881835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start = 20/02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0408" y="1808683"/>
            <a:ext cx="5422392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881835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Task start explicit có priority cao nhất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291486"/>
            <a:ext cx="251460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64638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Ngày họp: 17/01/2026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291486"/>
            <a:ext cx="242316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2364638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meeting anchor = 17/01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0408" y="2291486"/>
            <a:ext cx="5422392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364638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Request → transcript → note → processing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2774289"/>
            <a:ext cx="251460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847441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trước thứ Sáu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774289"/>
            <a:ext cx="242316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2847441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Thứ Năm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0408" y="2774289"/>
            <a:ext cx="5422392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2847441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before D không có giờ → D - 1 ngày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257092"/>
            <a:ext cx="251460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330244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trước 18h thứ Sáu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257092"/>
            <a:ext cx="242316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3330244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Thứ Sáu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0408" y="3257092"/>
            <a:ext cx="5422392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330244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Có giờ/cuối ngày → vẫn là 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3739896"/>
            <a:ext cx="251460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813048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vào / by / chậm nhất 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739896"/>
            <a:ext cx="242316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3813048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0408" y="3739896"/>
            <a:ext cx="5422392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3813048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Inclusive deadline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4222699"/>
            <a:ext cx="251460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295851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15/01 không có năm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222699"/>
            <a:ext cx="242316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4295851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Năm họp hoặc rollover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50408" y="4222699"/>
            <a:ext cx="5422392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295851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Nếu đã qua meeting date → năm sau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4705502"/>
            <a:ext cx="251460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778654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sau 3 ngày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27248" y="4705502"/>
            <a:ext cx="242316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0" y="4778654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start + 3 calendar days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4705502"/>
            <a:ext cx="5422392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60" y="4778654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Calendar duration có thể resolve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" y="5188305"/>
            <a:ext cx="251460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261457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3 ngày làm việc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27248" y="5188305"/>
            <a:ext cx="2423160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0" y="5261457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due_date rỗng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5188305"/>
            <a:ext cx="5422392" cy="482803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60" y="5261457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Không tự suy diễn lịch làm việc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" y="5671108"/>
            <a:ext cx="251460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744260"/>
            <a:ext cx="236829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sau khi khách duyệt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27248" y="5671108"/>
            <a:ext cx="2423160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0" y="5744260"/>
            <a:ext cx="2276856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due_date rỗng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50408" y="5671108"/>
            <a:ext cx="5422392" cy="482803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5744260"/>
            <a:ext cx="5276088" cy="3547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Event-dependent; giữ raw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API, hosting và vận 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Một FastAPI application được host bằng Uvicorn, Docker hoặc Azure Functions; async job là main PA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FASTAPI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API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914400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6809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1325880"/>
            <a:ext cx="4709160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417320"/>
            <a:ext cx="456285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325880"/>
            <a:ext cx="4736592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459028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929384"/>
            <a:ext cx="9144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02536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7048" y="1929384"/>
            <a:ext cx="470916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002536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929384"/>
            <a:ext cx="4736592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02536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Health probe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532888"/>
            <a:ext cx="9144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06040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7048" y="2532888"/>
            <a:ext cx="470916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2606040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/api/v1/transcripts/preprocess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532888"/>
            <a:ext cx="4736592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606040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Inspect parser/clauses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3136391"/>
            <a:ext cx="9144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209544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7048" y="3136391"/>
            <a:ext cx="470916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3209544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/api/v1/meetings/process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3136391"/>
            <a:ext cx="4736592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209544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Sync 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739896"/>
            <a:ext cx="9144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13048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7048" y="3739896"/>
            <a:ext cx="470916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3813048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/api/v1/meetings/process-file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3739896"/>
            <a:ext cx="4736592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813048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Sync 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4343400"/>
            <a:ext cx="9144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16552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7048" y="4343400"/>
            <a:ext cx="470916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0200" y="4416552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/api/v1/meetings/jobs/process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4343400"/>
            <a:ext cx="4736592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416552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Async JSON submit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4946904"/>
            <a:ext cx="9144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20056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27048" y="4946904"/>
            <a:ext cx="470916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0200" y="5020056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/api/v1/meetings/jobs/process-file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4946904"/>
            <a:ext cx="4736592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020056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Async binary — main PA 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5550408"/>
            <a:ext cx="9144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623560"/>
            <a:ext cx="7680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7048" y="5550408"/>
            <a:ext cx="470916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0200" y="5623560"/>
            <a:ext cx="456285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/api/v1/meetings/jobs/{job_id}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5550408"/>
            <a:ext cx="4736592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623560"/>
            <a:ext cx="459028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0">
                <a:solidFill>
                  <a:srgbClr val="F4F7FB"/>
                </a:solidFill>
                <a:latin typeface="Aptos"/>
              </a:defRPr>
            </a:pPr>
            <a:r>
              <a:t>Poll queued/running/succeeded/failed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IDEMPOTENT WITHIN ONE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Async job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202 + job_id + status_url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In-memory job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V1 + selected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POLL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queued / running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succeeded/result hoặc failed/error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ONE APPLICATION, MULTIPLE 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Hosting và provider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Local: Uvicorn backend.app.main:app.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Docker: cùng app trên port 8000.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Azure Functions: func.AsgiFunctionApp qua compatibility export.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Quick Tunnel: demo/test public endpoint; URL không durable.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Provider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1. OPENAI_API_KEY → Responses API.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2. Azure AI Foundry chat endpoint.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3. Generic AI_FALLBACK_ENDPOINT.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4. DisabledAiClient → rule-only + unresolved diagnostics.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Power Automate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Power Automate điều phối file, job và Microsoft Lists; business logic vẫn ở backend.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ORCHESTRATION, NOT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Power Automate main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SharePoint / OneDrive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POST binary + metadata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POLL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GET status_url với backoff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UPSERT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MI Meetings + Task Proposals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NeedsReview / approval / publish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UNICODE-SAFE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File request headers cho Power Automate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2560320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414015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Header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325880"/>
            <a:ext cx="1828800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Trạng thái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1768" y="1325880"/>
            <a:ext cx="5971032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17320"/>
            <a:ext cx="5824728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Giá trị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984248"/>
            <a:ext cx="256032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Content-Type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984248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057400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1984248"/>
            <a:ext cx="5971032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057400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application/octet-stream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642615"/>
            <a:ext cx="256032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15768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X-API-Key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2642615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715768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Required khi backend enforce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1768" y="2642615"/>
            <a:ext cx="5971032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715768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Secret từ environment variable / Key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3300984"/>
            <a:ext cx="256032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74136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X-File-Name-Base64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2968" y="3300984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3374136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1768" y="3300984"/>
            <a:ext cx="5971032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374136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base64(Name) — hỗ trợ Unicode an toàn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959352"/>
            <a:ext cx="256032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32504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Embedded metadata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2968" y="3959352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4032504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Preferred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1768" y="3959352"/>
            <a:ext cx="5971032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032504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ID/title/date nằm trong cùng file package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4617720"/>
            <a:ext cx="256032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690872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X-Meeting-Id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72968" y="4617720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690872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Optional override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01768" y="4617720"/>
            <a:ext cx="5971032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4690872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Dùng cho raw client cũ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5276088"/>
            <a:ext cx="256032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349240"/>
            <a:ext cx="241401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X-Meeting-Title/Date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72968" y="5276088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5349240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Optional override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01768" y="5276088"/>
            <a:ext cx="5971032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5349240"/>
            <a:ext cx="58247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20" b="0">
                <a:solidFill>
                  <a:srgbClr val="F4F7FB"/>
                </a:solidFill>
                <a:latin typeface="Aptos"/>
              </a:defRPr>
            </a:pPr>
            <a:r>
              <a:t>Header &gt; package &gt; context &gt; processing 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STORAGE-LEVEL DEDUPLICATION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Lists mapping và idempotency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MI Meetings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MeetingId là unique business key.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Upsert Processing → Writing → Success/Failed.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Lưu summary, diagnostics, unresolved count, pipeline/model.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NeedsReview nếu unresolved &gt; 0 hoặc policy yêu cầu.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MI Task Proposals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ProposalKey = MeetingId|TaskSequence là unique key.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Upsert task proposal; không Create blindly khi retry.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Lưu evidence, dates, raw due text, assignee, review status.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Chỉ publish downstream sau human review ở giai đoạn PoC.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REPO READINESS VS TENANT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Power Automate: các guard bắt buộc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Đã harden trong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Job key bao gồm content + title/date/id/file/aliases.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JSON schemas cho submit/status envelope.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Base64 headers tránh lỗi Unicode của HTTP connector.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Docs thống nhất status_url, secure inputs/outputs và upsert.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FF7770"/>
                </a:solidFill>
                <a:latin typeface="Aptos"/>
              </a:defRPr>
            </a:pPr>
            <a:r>
              <a:t>Còn phải làm ở 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Tạo unique columns/index và Configure run after.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Bật Secure Inputs/Outputs cho submit, poll và parse result.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Xử lý 404 sau backend restart: resubmit với cùng metadata.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Thay quick tunnel bằng Azure HTTPS endpoint trước production.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Quality, testing và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Ground truth reviewed + deterministic comparator vẫn là chuẩn; live provider được đánh giá như một biến thể có metadata đầy đủ.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EVIDENCE-BACKED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Canonical quality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63040"/>
            <a:ext cx="2596896" cy="31272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226771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900" b="1">
                <a:solidFill>
                  <a:srgbClr val="5B97FF"/>
                </a:solidFill>
                <a:latin typeface="Aptos"/>
              </a:defRPr>
            </a:pPr>
            <a:r>
              <a:t>15 / 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226771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V1 with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46120"/>
            <a:ext cx="212140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AAB8CC"/>
                </a:solidFill>
                <a:latin typeface="Aptos"/>
              </a:defRPr>
            </a:pPr>
            <a:r>
              <a:t>P 0.4040</a:t>
            </a:r>
            <a:br/>
            <a:r>
              <a:t>R 0.5776</a:t>
            </a:r>
            <a:br/>
            <a:r>
              <a:t>Field 0.8333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1463040"/>
            <a:ext cx="2596896" cy="31272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810512"/>
            <a:ext cx="226771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900" b="1">
                <a:solidFill>
                  <a:srgbClr val="2DCDB2"/>
                </a:solidFill>
                <a:latin typeface="Aptos"/>
              </a:defRPr>
            </a:pPr>
            <a:r>
              <a:t>16 / 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578608"/>
            <a:ext cx="226771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V1 without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246120"/>
            <a:ext cx="212140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AAB8CC"/>
                </a:solidFill>
                <a:latin typeface="Aptos"/>
              </a:defRPr>
            </a:pPr>
            <a:r>
              <a:t>P 0.3793</a:t>
            </a:r>
            <a:br/>
            <a:r>
              <a:t>R 0.5162</a:t>
            </a:r>
            <a:br/>
            <a:r>
              <a:t>Field 0.8473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463040"/>
            <a:ext cx="2596896" cy="312724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1810512"/>
            <a:ext cx="226771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900" b="1">
                <a:solidFill>
                  <a:srgbClr val="F8CA5D"/>
                </a:solidFill>
                <a:latin typeface="Aptos"/>
              </a:defRPr>
            </a:pPr>
            <a:r>
              <a:t>0.4091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578608"/>
            <a:ext cx="226771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Gate C replay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246120"/>
            <a:ext cx="212140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AAB8CC"/>
                </a:solidFill>
                <a:latin typeface="Aptos"/>
              </a:defRPr>
            </a:pPr>
            <a:r>
              <a:t>R 0.5848</a:t>
            </a:r>
            <a:br/>
            <a:r>
              <a:t>Field 0.8333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8" y="1463040"/>
            <a:ext cx="2596896" cy="312724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810512"/>
            <a:ext cx="226771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900" b="1">
                <a:solidFill>
                  <a:srgbClr val="FF7770"/>
                </a:solidFill>
                <a:latin typeface="Aptos"/>
              </a:defRPr>
            </a:pPr>
            <a:r>
              <a:t>234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78608"/>
            <a:ext cx="226771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  <a:latin typeface="Aptos"/>
              </a:defRPr>
            </a:pPr>
            <a:r>
              <a:t>Unexpected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3246120"/>
            <a:ext cx="2121408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AAB8CC"/>
                </a:solidFill>
                <a:latin typeface="Aptos"/>
              </a:defRPr>
            </a:pPr>
            <a:r>
              <a:t>Gate C replay</a:t>
            </a:r>
            <a:br/>
            <a:r>
              <a:t>173 unresolved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965192"/>
            <a:ext cx="10149840" cy="804672"/>
          </a:xfrm>
          <a:prstGeom prst="roundRect">
            <a:avLst/>
          </a:prstGeom>
          <a:solidFill>
            <a:srgbClr val="1F2E46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3584" y="5202936"/>
            <a:ext cx="9692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>
                <a:solidFill>
                  <a:srgbClr val="F8CA5D"/>
                </a:solidFill>
                <a:latin typeface="Aptos"/>
              </a:defRPr>
            </a:pPr>
            <a:r>
              <a:t>Không diễn giải gate transport/provider/replay là quality production gate; false positives và identity vẫn là trọng tâm.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GATES FROM CHEAP TO EXPENSIVE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Corpus và test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1828800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68249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Lớp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325880"/>
            <a:ext cx="3977639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20"/>
            <a:ext cx="3831335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Phạm vi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1325880"/>
            <a:ext cx="4572000" cy="658368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42569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Mục tiêu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984248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41448" y="1984248"/>
            <a:ext cx="3977639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057400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Parser, annotation, dates, rules, linker, reducer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1984248"/>
            <a:ext cx="45720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Rule positive luôn có negative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642615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15768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41448" y="2642615"/>
            <a:ext cx="3977639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715768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Pipeline, note/context, jobs, contracts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2642615"/>
            <a:ext cx="45720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715768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Giữ boundary giữa các stage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3300984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74136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End-to-end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3300984"/>
            <a:ext cx="3977639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374136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FastAPI sync/async/file/auth/idempotency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3300984"/>
            <a:ext cx="45720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374136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Bảo vệ public contract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959352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32504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Targeted cases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41448" y="3959352"/>
            <a:ext cx="3977639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032504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Case lỗi hoặc semantic cluster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3959352"/>
            <a:ext cx="45720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032504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Chứng minh fix đúng lỗi cụ thể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4617720"/>
            <a:ext cx="18288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690872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Wave W1–W5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41448" y="4617720"/>
            <a:ext cx="3977639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4690872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86 reviewed cases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4617720"/>
            <a:ext cx="4572000" cy="658368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90872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Phát hiện regression theo độ dài/feature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5276088"/>
            <a:ext cx="18288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349240"/>
            <a:ext cx="16824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Full A/B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41448" y="5276088"/>
            <a:ext cx="3977639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5349240"/>
            <a:ext cx="3831335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With/without notes, local/live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5276088"/>
            <a:ext cx="4572000" cy="658368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349240"/>
            <a:ext cx="4425696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F4F7FB"/>
                </a:solidFill>
                <a:latin typeface="Aptos"/>
              </a:defRPr>
            </a:pPr>
            <a:r>
              <a:t>Đo quality và tác động Meeting Note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Có nên làm sản phẩm đánh giá?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Giữ comparator canonical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Blocking gate phải deterministic và reproducible.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Precision/recall/field metrics không phụ thuộc mood của model.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Ground truth chỉ đổi sau review transcript/final state.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Mọi run ghi rõ version, note mode, provider, model và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Xây Evaluation Workbench nhỏ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Expected/actual cạnh nhau, transcript + evidence + ledger.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Semantic matching chỉ gợi ý alignment, không tự chấm pass.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Human adjudication + error taxonomy + audit patch.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Dashboard theo wave/label/length/note/provider.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98464"/>
            <a:ext cx="10698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1">
                <a:solidFill>
                  <a:srgbClr val="F8CA5D"/>
                </a:solidFill>
                <a:latin typeface="Aptos"/>
              </a:defRPr>
            </a:pPr>
            <a:r>
              <a:t>Không chỉ “so sánh”, nhưng cũng không xây AI judge thay ground truth.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MEASURE CORRECTLY, LEARN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Evaluation Workbench — workflow đề xuất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5B97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Deterministic expected ↔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275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7159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463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2DCDB2"/>
                </a:solidFill>
                <a:latin typeface="Aptos"/>
              </a:defRPr>
            </a:pPr>
            <a:r>
              <a:t>SUGGEST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463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Semantic alignment non-blocking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267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9151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5455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8CA5D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5455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Transcript + evidence +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6259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1143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FF7770"/>
                </a:solidFill>
                <a:latin typeface="Aptos"/>
              </a:defRPr>
            </a:pPr>
            <a:r>
              <a:t>ADJUDICATE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Human decision +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8251" y="2103120"/>
            <a:ext cx="20116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AAB8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3135" y="1572768"/>
            <a:ext cx="1993392" cy="1389888"/>
          </a:xfrm>
          <a:prstGeom prst="roundRect">
            <a:avLst/>
          </a:prstGeom>
          <a:solidFill>
            <a:srgbClr val="162135"/>
          </a:solidFill>
          <a:ln>
            <a:solidFill>
              <a:srgbClr val="65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9439" y="1783080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65D391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439" y="2231136"/>
            <a:ext cx="1700784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50" b="0">
                <a:solidFill>
                  <a:srgbClr val="AAB8CC"/>
                </a:solidFill>
                <a:latin typeface="Aptos"/>
              </a:defRPr>
            </a:pPr>
            <a:r>
              <a:t>Versioned audit/patch + issue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8288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6800" b="1">
                <a:solidFill>
                  <a:srgbClr val="2DCDB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0048" y="1115568"/>
            <a:ext cx="859536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>
                <a:solidFill>
                  <a:srgbClr val="F4F7FB"/>
                </a:solidFill>
                <a:latin typeface="Aptos"/>
              </a:defRPr>
            </a:pPr>
            <a:r>
              <a:t>Roadmap và quyết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2084831"/>
            <a:ext cx="795527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>
                <a:solidFill>
                  <a:srgbClr val="AAB8CC"/>
                </a:solidFill>
                <a:latin typeface="Aptos"/>
              </a:defRPr>
            </a:pPr>
            <a:r>
              <a:t>Ưu tiên quality, durable operations và review workflow trước khi tự động hóa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8336" y="3310128"/>
            <a:ext cx="7223760" cy="54864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FROM POC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Roadmap thực tế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25880"/>
            <a:ext cx="960120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81381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Ưu tiên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1325880"/>
            <a:ext cx="5715000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417320"/>
            <a:ext cx="556869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Hạng mục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7768" y="1325880"/>
            <a:ext cx="3703320" cy="603504"/>
          </a:xfrm>
          <a:prstGeom prst="rect">
            <a:avLst/>
          </a:prstGeom>
          <a:solidFill>
            <a:srgbClr val="1F2E46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417320"/>
            <a:ext cx="35570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DCDB2"/>
                </a:solidFill>
                <a:latin typeface="Aptos"/>
              </a:defRPr>
            </a:pPr>
            <a:r>
              <a:t>Exit condition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1929384"/>
            <a:ext cx="9601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02536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2768" y="1929384"/>
            <a:ext cx="57150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002536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Power Automate demo flow + unique keys + secure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87768" y="1929384"/>
            <a:ext cx="37033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002536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Public submit/poll/upsert smoke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2532888"/>
            <a:ext cx="9601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06040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2768" y="2532888"/>
            <a:ext cx="57150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2606040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False-create / task identity / long-distance mutation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2532888"/>
            <a:ext cx="37033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606040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Targeted + wave + full A/B không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3136391"/>
            <a:ext cx="9601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209544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72768" y="3136391"/>
            <a:ext cx="57150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209544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Evaluation Workbench read-only + taxonomy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87768" y="3136391"/>
            <a:ext cx="37033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3209544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Reviewer xử lý case nhanh, audit được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3739896"/>
            <a:ext cx="9601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813048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72768" y="3739896"/>
            <a:ext cx="57150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3813048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Durable job store/queue + TTL + multi-instance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87768" y="3739896"/>
            <a:ext cx="37033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3813048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Restart không mất job; idempotency durable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4343400"/>
            <a:ext cx="9601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16552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2768" y="4343400"/>
            <a:ext cx="57150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4416552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Canonical live-AI A/B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7768" y="4343400"/>
            <a:ext cx="37033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416552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Run metadata + usage + replay artifact đầy đủ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4946904"/>
            <a:ext cx="9601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20056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2768" y="4946904"/>
            <a:ext cx="571500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5020056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Blind/dev corpus thực tế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87768" y="4946904"/>
            <a:ext cx="3703320" cy="603504"/>
          </a:xfrm>
          <a:prstGeom prst="rect">
            <a:avLst/>
          </a:prstGeom>
          <a:solidFill>
            <a:srgbClr val="1A273D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5020056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Không tune trực tiếp trên canonical test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5550408"/>
            <a:ext cx="9601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623560"/>
            <a:ext cx="8138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2768" y="5550408"/>
            <a:ext cx="571500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0" y="5623560"/>
            <a:ext cx="556869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V2 parity hoặc thu hẹp dependency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87768" y="5550408"/>
            <a:ext cx="3703320" cy="603504"/>
          </a:xfrm>
          <a:prstGeom prst="rect">
            <a:avLst/>
          </a:prstGeom>
          <a:solidFill>
            <a:srgbClr val="162135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5623560"/>
            <a:ext cx="3557015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80" b="0">
                <a:solidFill>
                  <a:srgbClr val="F4F7FB"/>
                </a:solidFill>
                <a:latin typeface="Aptos"/>
              </a:defRPr>
            </a:pPr>
            <a:r>
              <a:t>Quyết định promote, retain shadow hoặc retire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OPERATIONAL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Demo runbook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5B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5B97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Set POWER_AUTOMATE_API_KEY, PIPELINE_VERSION=v1, CONTEXT=assist.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Start: uvicorn backend.app.main:app --port 8010.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Health: GET /health.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Nếu không có OPENAI_API_KEY: demo là rule-only và có unresolved diagnostics.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2DCDB2"/>
                </a:solidFill>
                <a:latin typeface="Aptos"/>
              </a:defRPr>
            </a:pPr>
            <a:r>
              <a:t>Power Automate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Set API base URL từ HTTPS tunnel/Azure endpoint.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Submit self-contained package + Base64 file-name header.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Poll status_url đến terminal status.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Upsert Lists; route NeedsReview; kiểm tra evidence trước publish.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WHAT PREVENTS PRODUCTION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FF7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FF7770"/>
                </a:solidFill>
                <a:latin typeface="Aptos"/>
              </a:defRPr>
            </a:pPr>
            <a:r>
              <a:t>Runtime /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Job store in-memory, chưa TTL/persistence/multi-instance.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Quick tunnel URL thay đổi và không có SLA.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V2 chưa parity V1; V1 còn dùng helper dưới v2.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C# sample client chưa theo async job + Meeting Note.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98448"/>
            <a:ext cx="5321808" cy="4498848"/>
          </a:xfrm>
          <a:prstGeom prst="roundRect">
            <a:avLst/>
          </a:prstGeom>
          <a:solidFill>
            <a:srgbClr val="162135"/>
          </a:solidFill>
          <a:ln>
            <a:solidFill>
              <a:srgbClr val="F8C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5727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F8CA5D"/>
                </a:solidFill>
                <a:latin typeface="Aptos"/>
              </a:defRPr>
            </a:pPr>
            <a:r>
              <a:t>Quality /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773168" cy="342900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Pass rate canonical thấp; unexpected tasks còn nhiều.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Chưa có blind/dev corpus thực tế.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Current canonical reports chủ yếu deterministic; live-AI cần run chuẩn mới.</a:t>
            </a:r>
          </a:p>
          <a:p>
            <a:pPr>
              <a:spcAft>
                <a:spcPts val="1000"/>
              </a:spcAft>
              <a:defRPr sz="155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Trace chứa raw transcript/evidence, phải coi là dữ liệu nhạy cảm.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0698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AAB8CC"/>
                </a:solidFill>
                <a:latin typeface="Aptos"/>
              </a:defRPr>
            </a:pPr>
            <a:r>
              <a:t>Meeting Task Pipeline  •  17.08.2026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AAB8CC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2DCDB2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47472"/>
            <a:ext cx="10607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>
                <a:solidFill>
                  <a:srgbClr val="2DCDB2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600" b="1">
                <a:solidFill>
                  <a:srgbClr val="F4F7FB"/>
                </a:solidFill>
                <a:latin typeface="Aptos"/>
              </a:defRPr>
            </a:pPr>
            <a:r>
              <a:t>Quyết định đề xuất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44752"/>
            <a:ext cx="10698480" cy="1024128"/>
          </a:xfrm>
          <a:prstGeom prst="roundRect">
            <a:avLst/>
          </a:prstGeom>
          <a:solidFill>
            <a:srgbClr val="1F2E46"/>
          </a:solidFill>
          <a:ln>
            <a:solidFill>
              <a:srgbClr val="2D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19072"/>
            <a:ext cx="10012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DCDB2"/>
                </a:solidFill>
                <a:latin typeface="Aptos"/>
              </a:defRPr>
            </a:pPr>
            <a:r>
              <a:t>Demo Power Automate được — production automation chưa được.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44368"/>
            <a:ext cx="9875520" cy="224028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Giữ V1 làm main path và comparator deterministic làm blocking gate.</a:t>
            </a:r>
          </a:p>
          <a:p>
            <a:pPr>
              <a:spcAft>
                <a:spcPts val="10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Dùng Evaluation Workbench để review nhanh, đúng và có audit trail.</a:t>
            </a:r>
          </a:p>
          <a:p>
            <a:pPr>
              <a:spcAft>
                <a:spcPts val="10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Hoàn tất Power Automate tenant guards, sau đó demo end-to-end có human review.</a:t>
            </a:r>
          </a:p>
          <a:p>
            <a:pPr>
              <a:spcAft>
                <a:spcPts val="10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rPr>
                <a:solidFill>
                  <a:srgbClr val="F4F7FB"/>
                </a:solidFill>
              </a:rPr>
              <a:t>•  Chỉ mở production write-back khi quality gate và durable job infrastructure đạt yêu cầu.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742432"/>
            <a:ext cx="10012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AAB8CC"/>
                </a:solidFill>
                <a:latin typeface="Aptos"/>
              </a:defRPr>
            </a:pPr>
            <a:r>
              <a:t>Nguồn: code/tests, data/validation, evaluation artifacts và docs hiện hành.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